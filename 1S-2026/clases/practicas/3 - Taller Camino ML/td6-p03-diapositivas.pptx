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aleway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5" roundtripDataSignature="AMtx7mgnzgdmWl1l9WXz5E12HORLmOAB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regular.fntdata"/><Relationship Id="rId10" Type="http://schemas.openxmlformats.org/officeDocument/2006/relationships/slide" Target="slides/slide5.xml"/><Relationship Id="rId13" Type="http://schemas.openxmlformats.org/officeDocument/2006/relationships/font" Target="fonts/Raleway-italic.fntdata"/><Relationship Id="rId12" Type="http://schemas.openxmlformats.org/officeDocument/2006/relationships/font" Target="fonts/Ralew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fbe65510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cfbe6551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fbe65510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cfbe65510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átula principal">
  <p:cSld name="TITLE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/>
          <p:nvPr/>
        </p:nvSpPr>
        <p:spPr>
          <a:xfrm>
            <a:off x="80700" y="68675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0"/>
          <p:cNvSpPr txBox="1"/>
          <p:nvPr>
            <p:ph type="ctrTitle"/>
          </p:nvPr>
        </p:nvSpPr>
        <p:spPr>
          <a:xfrm>
            <a:off x="485875" y="2626675"/>
            <a:ext cx="8183700" cy="147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10"/>
          <p:cNvSpPr txBox="1"/>
          <p:nvPr>
            <p:ph idx="1" type="subTitle"/>
          </p:nvPr>
        </p:nvSpPr>
        <p:spPr>
          <a:xfrm>
            <a:off x="485875" y="4100275"/>
            <a:ext cx="81837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10"/>
          <p:cNvSpPr txBox="1"/>
          <p:nvPr/>
        </p:nvSpPr>
        <p:spPr>
          <a:xfrm>
            <a:off x="485875" y="1609175"/>
            <a:ext cx="81837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Tecnología Digital VI: Inteligencia Artificial</a:t>
            </a:r>
            <a:endParaRPr b="1" i="0" sz="2000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" name="Google Shape;14;p10"/>
          <p:cNvSpPr txBox="1"/>
          <p:nvPr/>
        </p:nvSpPr>
        <p:spPr>
          <a:xfrm>
            <a:off x="485875" y="1259100"/>
            <a:ext cx="81837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Licenciatura en Tecnología Digital</a:t>
            </a:r>
            <a:endParaRPr b="0" i="0" sz="1600" u="none" cap="none" strike="noStrike">
              <a:solidFill>
                <a:srgbClr val="EFEFE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4925" y="471446"/>
            <a:ext cx="2880000" cy="4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1"/>
          <p:cNvSpPr txBox="1"/>
          <p:nvPr>
            <p:ph type="title"/>
          </p:nvPr>
        </p:nvSpPr>
        <p:spPr>
          <a:xfrm>
            <a:off x="311700" y="2164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" type="body"/>
          </p:nvPr>
        </p:nvSpPr>
        <p:spPr>
          <a:xfrm>
            <a:off x="311700" y="12286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9" name="Google Shape;19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0" name="Google Shape;20;p11"/>
          <p:cNvSpPr/>
          <p:nvPr/>
        </p:nvSpPr>
        <p:spPr>
          <a:xfrm>
            <a:off x="311700" y="847725"/>
            <a:ext cx="8520600" cy="100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" name="Google Shape;38;p16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16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16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1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5" name="Google Shape;45;p1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8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8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18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1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aleway"/>
              <a:buNone/>
              <a:defRPr b="1" i="0" sz="30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aleway"/>
              <a:buNone/>
              <a:defRPr b="1" i="0" sz="30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aleway"/>
              <a:buNone/>
              <a:defRPr b="1" i="0" sz="30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aleway"/>
              <a:buNone/>
              <a:defRPr b="1" i="0" sz="30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aleway"/>
              <a:buNone/>
              <a:defRPr b="1" i="0" sz="30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aleway"/>
              <a:buNone/>
              <a:defRPr b="1" i="0" sz="30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aleway"/>
              <a:buNone/>
              <a:defRPr b="1" i="0" sz="30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aleway"/>
              <a:buNone/>
              <a:defRPr b="1" i="0" sz="30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aleway"/>
              <a:buNone/>
              <a:defRPr b="1" i="0" sz="30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forms.gle/p5PvBueUaBmgkCsk7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 txBox="1"/>
          <p:nvPr>
            <p:ph type="ctrTitle"/>
          </p:nvPr>
        </p:nvSpPr>
        <p:spPr>
          <a:xfrm>
            <a:off x="485875" y="3007675"/>
            <a:ext cx="8183700" cy="9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"/>
              <a:t>Taller del Camino ML</a:t>
            </a:r>
            <a:endParaRPr/>
          </a:p>
        </p:txBody>
      </p:sp>
      <p:sp>
        <p:nvSpPr>
          <p:cNvPr id="58" name="Google Shape;58;p1"/>
          <p:cNvSpPr txBox="1"/>
          <p:nvPr>
            <p:ph idx="1" type="subTitle"/>
          </p:nvPr>
        </p:nvSpPr>
        <p:spPr>
          <a:xfrm>
            <a:off x="485875" y="3994592"/>
            <a:ext cx="81837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Clase práctica 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>
            <p:ph type="title"/>
          </p:nvPr>
        </p:nvSpPr>
        <p:spPr>
          <a:xfrm>
            <a:off x="311700" y="2164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Motivación</a:t>
            </a:r>
            <a:endParaRPr/>
          </a:p>
        </p:txBody>
      </p:sp>
      <p:sp>
        <p:nvSpPr>
          <p:cNvPr id="64" name="Google Shape;64;p2"/>
          <p:cNvSpPr txBox="1"/>
          <p:nvPr>
            <p:ph idx="1" type="body"/>
          </p:nvPr>
        </p:nvSpPr>
        <p:spPr>
          <a:xfrm>
            <a:off x="311700" y="1228675"/>
            <a:ext cx="8520600" cy="26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/>
              <a:t>Vamos a </a:t>
            </a:r>
            <a:r>
              <a:rPr lang="es"/>
              <a:t>poner en práctica algunos pasos del “Camino ML”</a:t>
            </a:r>
            <a:endParaRPr/>
          </a:p>
          <a:p>
            <a:pPr indent="-294299" lvl="0" marL="540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Imputación de valores</a:t>
            </a:r>
            <a:endParaRPr/>
          </a:p>
          <a:p>
            <a:pPr indent="-294299" lvl="0" marL="540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Remoción de errores / outliers </a:t>
            </a:r>
            <a:endParaRPr/>
          </a:p>
          <a:p>
            <a:pPr indent="-294299" lvl="0" marL="540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Oversampling / Undersampling</a:t>
            </a:r>
            <a:endParaRPr/>
          </a:p>
          <a:p>
            <a:pPr indent="-294299" lvl="0" marL="540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Feature Selection / Extraction / Transformation</a:t>
            </a:r>
            <a:endParaRPr/>
          </a:p>
          <a:p>
            <a:pPr indent="-294299" lvl="0" marL="5400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s"/>
              <a:t>Model Validation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fbe65510e_0_0"/>
          <p:cNvSpPr txBox="1"/>
          <p:nvPr>
            <p:ph type="title"/>
          </p:nvPr>
        </p:nvSpPr>
        <p:spPr>
          <a:xfrm>
            <a:off x="311700" y="2164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MUY Breve Repaso</a:t>
            </a:r>
            <a:endParaRPr/>
          </a:p>
        </p:txBody>
      </p:sp>
      <p:sp>
        <p:nvSpPr>
          <p:cNvPr id="70" name="Google Shape;70;g3cfbe65510e_0_0"/>
          <p:cNvSpPr txBox="1"/>
          <p:nvPr>
            <p:ph idx="1" type="body"/>
          </p:nvPr>
        </p:nvSpPr>
        <p:spPr>
          <a:xfrm>
            <a:off x="311700" y="1008867"/>
            <a:ext cx="85206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Imputación de valores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/>
              <a:t>	Rellenar datos de alguna manera (mediana, media, moda, etc…)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Outliers</a:t>
            </a:r>
            <a:endParaRPr b="1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/>
              <a:t>Valores muy alejados de la distribución. </a:t>
            </a:r>
            <a:r>
              <a:rPr lang="es" u="sng"/>
              <a:t>A veces</a:t>
            </a:r>
            <a:r>
              <a:rPr lang="es"/>
              <a:t> pueden ser un problema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Over/Under Sampling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/>
              <a:t>	</a:t>
            </a:r>
            <a:r>
              <a:rPr lang="es"/>
              <a:t>Balancear un dataset agregando o quitando muestras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Feature Selection / Extraction / Transformation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/>
              <a:t>Eliminar / Crear / Transformar columnas (features)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Model Validation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s"/>
              <a:t>	</a:t>
            </a:r>
            <a:r>
              <a:rPr lang="es"/>
              <a:t>Queremos ver qué tanto generaliza nuestro modelo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fbe65510e_0_15"/>
          <p:cNvSpPr txBox="1"/>
          <p:nvPr>
            <p:ph type="title"/>
          </p:nvPr>
        </p:nvSpPr>
        <p:spPr>
          <a:xfrm>
            <a:off x="311700" y="2164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Consideraciones</a:t>
            </a:r>
            <a:endParaRPr/>
          </a:p>
        </p:txBody>
      </p:sp>
      <p:sp>
        <p:nvSpPr>
          <p:cNvPr id="76" name="Google Shape;76;g3cfbe65510e_0_15"/>
          <p:cNvSpPr txBox="1"/>
          <p:nvPr>
            <p:ph idx="1" type="body"/>
          </p:nvPr>
        </p:nvSpPr>
        <p:spPr>
          <a:xfrm>
            <a:off x="311700" y="1162733"/>
            <a:ext cx="85206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Esto no es un listado exhaustivo de técnicas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Este taller no se trata de obtener el mejor modelo, sino de entender los distintos pasos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El orden puede variar, no es una receta, ni tampoco hay que usar todo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Siempre </a:t>
            </a:r>
            <a:r>
              <a:rPr lang="es"/>
              <a:t>piensen en el Data Leakage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Pueden usar IA, pero entiendan lo que están haciendo (la documentación no muerde)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 txBox="1"/>
          <p:nvPr>
            <p:ph type="title"/>
          </p:nvPr>
        </p:nvSpPr>
        <p:spPr>
          <a:xfrm>
            <a:off x="311700" y="2164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Consignas</a:t>
            </a:r>
            <a:endParaRPr/>
          </a:p>
        </p:txBody>
      </p:sp>
      <p:sp>
        <p:nvSpPr>
          <p:cNvPr id="82" name="Google Shape;82;p6"/>
          <p:cNvSpPr txBox="1"/>
          <p:nvPr>
            <p:ph idx="1" type="body"/>
          </p:nvPr>
        </p:nvSpPr>
        <p:spPr>
          <a:xfrm>
            <a:off x="311700" y="12286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/>
              <a:t>Para conocer las consignas, veamos </a:t>
            </a:r>
            <a:r>
              <a:rPr b="1" lang="es">
                <a:latin typeface="Courier New"/>
                <a:ea typeface="Courier New"/>
                <a:cs typeface="Courier New"/>
                <a:sym typeface="Courier New"/>
              </a:rPr>
              <a:t>td6-p03-taller.ipynb</a:t>
            </a:r>
            <a:r>
              <a:rPr lang="es"/>
              <a:t>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000"/>
              </a:spcBef>
              <a:spcAft>
                <a:spcPts val="0"/>
              </a:spcAft>
              <a:buSzPts val="1800"/>
              <a:buNone/>
            </a:pPr>
            <a:r>
              <a:rPr lang="es"/>
              <a:t>Tengamos en cuenta que también contamos con </a:t>
            </a:r>
            <a:r>
              <a:rPr b="1" lang="es">
                <a:latin typeface="Courier New"/>
                <a:ea typeface="Courier New"/>
                <a:cs typeface="Courier New"/>
                <a:sym typeface="Courier New"/>
              </a:rPr>
              <a:t>w</a:t>
            </a:r>
            <a:r>
              <a:rPr b="1" lang="es">
                <a:latin typeface="Courier New"/>
                <a:ea typeface="Courier New"/>
                <a:cs typeface="Courier New"/>
                <a:sym typeface="Courier New"/>
              </a:rPr>
              <a:t>ine.csv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5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>
                <a:solidFill>
                  <a:schemeClr val="dk2"/>
                </a:solidFill>
              </a:rPr>
              <a:t>Pueden darnos </a:t>
            </a:r>
            <a:r>
              <a:rPr i="1" lang="es">
                <a:solidFill>
                  <a:schemeClr val="dk2"/>
                </a:solidFill>
              </a:rPr>
              <a:t>feedback</a:t>
            </a:r>
            <a:r>
              <a:rPr lang="es">
                <a:solidFill>
                  <a:schemeClr val="dk2"/>
                </a:solidFill>
              </a:rPr>
              <a:t> de la clase </a:t>
            </a:r>
            <a:r>
              <a:rPr b="1" lang="es" u="sng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acá</a:t>
            </a:r>
            <a:r>
              <a:rPr lang="es">
                <a:solidFill>
                  <a:schemeClr val="dk2"/>
                </a:solidFill>
              </a:rPr>
              <a:t>.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1C4587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1155CC"/>
      </a:accent2>
      <a:accent3>
        <a:srgbClr val="6D9EEB"/>
      </a:accent3>
      <a:accent4>
        <a:srgbClr val="04B1A0"/>
      </a:accent4>
      <a:accent5>
        <a:srgbClr val="A14ED8"/>
      </a:accent5>
      <a:accent6>
        <a:srgbClr val="C77025"/>
      </a:accent6>
      <a:hlink>
        <a:srgbClr val="1155CC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